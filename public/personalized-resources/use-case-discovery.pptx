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962" r:id="rId4"/>
  </p:sldMasterIdLst>
  <p:notesMasterIdLst>
    <p:notesMasterId r:id="rId8"/>
  </p:notesMasterIdLst>
  <p:handoutMasterIdLst>
    <p:handoutMasterId r:id="rId9"/>
  </p:handoutMasterIdLst>
  <p:sldIdLst>
    <p:sldId id="543" r:id="rId5"/>
    <p:sldId id="544" r:id="rId6"/>
    <p:sldId id="542" r:id="rId7"/>
  </p:sldIdLst>
  <p:sldSz cx="24387175" cy="13716000"/>
  <p:notesSz cx="6858000" cy="9144000"/>
  <p:embeddedFontLst>
    <p:embeddedFont>
      <p:font typeface="IBM Plex Sans" panose="020B0503050203000203" pitchFamily="34" charset="0"/>
      <p:regular r:id="rId10"/>
      <p:bold r:id="rId11"/>
      <p:italic r:id="rId12"/>
      <p:boldItalic r:id="rId13"/>
    </p:embeddedFont>
    <p:embeddedFont>
      <p:font typeface="IBM Plex Sans ExtLt" panose="020B0303050203000203" pitchFamily="34" charset="0"/>
      <p:regular r:id="rId14"/>
      <p:italic r:id="rId15"/>
    </p:embeddedFont>
    <p:embeddedFont>
      <p:font typeface="IBM Plex Sans Light" panose="020B0403050203000203" pitchFamily="34" charset="0"/>
      <p:regular r:id="rId16"/>
      <p:italic r:id="rId17"/>
    </p:embeddedFont>
    <p:embeddedFont>
      <p:font typeface="IBM Plex Sans Text" panose="020B0503050203000203" pitchFamily="34" charset="0"/>
      <p:regular r:id="rId18"/>
      <p:italic r:id="rId19"/>
    </p:embeddedFont>
  </p:embeddedFontLst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dies" id="{4700659D-582D-3B47-8AF6-59C9324AA29A}">
          <p14:sldIdLst>
            <p14:sldId id="543"/>
            <p14:sldId id="544"/>
            <p14:sldId id="54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86"/>
    <p:restoredTop sz="82603"/>
  </p:normalViewPr>
  <p:slideViewPr>
    <p:cSldViewPr snapToGrid="0" snapToObjects="1">
      <p:cViewPr>
        <p:scale>
          <a:sx n="41" d="100"/>
          <a:sy n="41" d="100"/>
        </p:scale>
        <p:origin x="2808" y="672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4D225-7A56-7DA8-0B30-34CCC29E2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ED8B4-D90A-E6B0-7E8C-E89ED35A4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06EFB-E3F8-7C77-A21A-91DEC5DA9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1EA0C-7B37-A840-9778-286898595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EE57A-315C-B4E5-EA41-52A1401ACD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569504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AE666-EA2E-E044-19C0-A53B575FA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66E5B-4887-2A0B-58E0-07139A9CA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73C169-9527-0628-9D10-2EF9EA3F5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The top 3 use cases this team wanted to use Bob for is:</a:t>
            </a:r>
            <a:br>
              <a:rPr lang="en-US" sz="1200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</a:br>
            <a:endParaRPr lang="en-US" sz="1200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Impact Analysis</a:t>
            </a:r>
          </a:p>
          <a:p>
            <a:pPr lvl="0"/>
            <a:r>
              <a:rPr lang="en-US" sz="1200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Code Review</a:t>
            </a:r>
          </a:p>
          <a:p>
            <a:pPr lvl="0"/>
            <a:r>
              <a:rPr lang="en-US" sz="1200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Assisting with compliance regulations and business requirements</a:t>
            </a:r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79403-DBCA-1D4C-5F03-5A9E6F69D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C8DDB-EE3E-F33E-CA37-EECAFA74C08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073353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4C9DF-6DA7-82A7-665E-18076D331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105AE-3D31-5EF6-D8B4-2E063196E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6CEEB-4A52-CEE4-4208-FA0C40BE3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6DD40-1A54-01A1-F2E8-2A61CDB86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1A7B8-9F92-3B6E-E436-03AA048DCA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321503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00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12000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09600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80000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434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000" y="309600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00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80000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520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80000" y="385200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85200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00" y="309600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9600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000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00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00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80000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97527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76071"/>
            <a:ext cx="4946904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6673850"/>
            <a:ext cx="4946904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800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800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6000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6000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6000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80000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80000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80000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6000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>
                <a:latin typeface="IBM Plex Sans" panose="020B0503050203000203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6000" y="3044825"/>
            <a:ext cx="4943475" cy="9150350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800">
                <a:latin typeface="+mj-lt"/>
              </a:defRPr>
            </a:lvl3pPr>
            <a:lvl4pPr>
              <a:defRPr sz="2800">
                <a:latin typeface="+mj-lt"/>
              </a:defRPr>
            </a:lvl4pPr>
            <a:lvl5pPr>
              <a:defRPr sz="2800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2800" dirty="0">
                <a:latin typeface="IBM Plex Sans Light" panose="020B0403050203000203" pitchFamily="34" charset="0"/>
              </a:rPr>
              <a:t>Lorem ipsum dolor sit </a:t>
            </a:r>
            <a:r>
              <a:rPr lang="en-US" sz="2800" dirty="0" err="1">
                <a:latin typeface="IBM Plex Sans Light" panose="020B0403050203000203" pitchFamily="34" charset="0"/>
              </a:rPr>
              <a:t>amet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donec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quam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felis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ultricies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pellentesque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eu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pretium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sem. </a:t>
            </a:r>
            <a:r>
              <a:rPr lang="en-US" sz="2800" dirty="0" err="1">
                <a:latin typeface="IBM Plex Sans Light" panose="020B0403050203000203" pitchFamily="34" charset="0"/>
              </a:rPr>
              <a:t>Nulla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conset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massa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enim</a:t>
            </a:r>
            <a:r>
              <a:rPr lang="en-US" sz="2800" dirty="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CF978-95F1-0188-4FBB-81AAB884C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800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517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000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04" r:id="rId3"/>
    <p:sldLayoutId id="2147483905" r:id="rId4"/>
    <p:sldLayoutId id="2147483901" r:id="rId5"/>
    <p:sldLayoutId id="2147483692" r:id="rId6"/>
    <p:sldLayoutId id="2147483906" r:id="rId7"/>
    <p:sldLayoutId id="2147483907" r:id="rId8"/>
    <p:sldLayoutId id="2147483910" r:id="rId9"/>
    <p:sldLayoutId id="2147483908" r:id="rId10"/>
    <p:sldLayoutId id="2147483909" r:id="rId11"/>
    <p:sldLayoutId id="2147483912" r:id="rId12"/>
    <p:sldLayoutId id="2147483914" r:id="rId13"/>
    <p:sldLayoutId id="2147483915" r:id="rId14"/>
    <p:sldLayoutId id="2147483913" r:id="rId15"/>
    <p:sldLayoutId id="2147483917" r:id="rId16"/>
    <p:sldLayoutId id="2147483942" r:id="rId17"/>
    <p:sldLayoutId id="2147483919" r:id="rId18"/>
    <p:sldLayoutId id="2147483929" r:id="rId19"/>
    <p:sldLayoutId id="2147483920" r:id="rId20"/>
    <p:sldLayoutId id="2147483930" r:id="rId21"/>
    <p:sldLayoutId id="2147483928" r:id="rId22"/>
    <p:sldLayoutId id="2147483948" r:id="rId23"/>
    <p:sldLayoutId id="2147483927" r:id="rId24"/>
    <p:sldLayoutId id="2147483950" r:id="rId25"/>
    <p:sldLayoutId id="2147483921" r:id="rId26"/>
    <p:sldLayoutId id="2147483916" r:id="rId27"/>
    <p:sldLayoutId id="2147483922" r:id="rId28"/>
    <p:sldLayoutId id="2147483965" r:id="rId29"/>
    <p:sldLayoutId id="2147483956" r:id="rId30"/>
    <p:sldLayoutId id="2147483923" r:id="rId31"/>
    <p:sldLayoutId id="2147483924" r:id="rId32"/>
    <p:sldLayoutId id="2147483926" r:id="rId33"/>
    <p:sldLayoutId id="2147483925" r:id="rId34"/>
    <p:sldLayoutId id="2147483959" r:id="rId35"/>
    <p:sldLayoutId id="2147483937" r:id="rId36"/>
    <p:sldLayoutId id="2147483932" r:id="rId37"/>
    <p:sldLayoutId id="2147483934" r:id="rId38"/>
    <p:sldLayoutId id="2147483935" r:id="rId39"/>
    <p:sldLayoutId id="2147483936" r:id="rId40"/>
    <p:sldLayoutId id="2147483938" r:id="rId41"/>
    <p:sldLayoutId id="2147483939" r:id="rId42"/>
    <p:sldLayoutId id="2147483964" r:id="rId43"/>
    <p:sldLayoutId id="2147483940" r:id="rId44"/>
    <p:sldLayoutId id="2147483960" r:id="rId45"/>
    <p:sldLayoutId id="2147483943" r:id="rId46"/>
    <p:sldLayoutId id="2147483963" r:id="rId47"/>
    <p:sldLayoutId id="2147483941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86EEE-4098-5839-1EC8-A0330227C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2E5712E-4B01-C0E5-244C-BE83582169C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11938" r="11938"/>
          <a:stretch>
            <a:fillRect/>
          </a:stretch>
        </p:blipFill>
        <p:spPr>
          <a:prstGeom prst="rect">
            <a:avLst/>
          </a:prstGeom>
          <a:solidFill>
            <a:srgbClr val="E0E0E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F6527B2A-AF08-B1EB-D3EF-9B6B1CC80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/>
          <a:p>
            <a:r>
              <a:rPr lang="en-US" dirty="0"/>
              <a:t>Use Case Discovery</a:t>
            </a:r>
            <a:br>
              <a:rPr lang="en-US" dirty="0"/>
            </a:br>
            <a:br>
              <a:rPr lang="en-US" sz="2800" dirty="0"/>
            </a:br>
            <a:r>
              <a:rPr lang="en-US" sz="3600" dirty="0"/>
              <a:t>A part of </a:t>
            </a:r>
            <a:r>
              <a:rPr lang="en-US" sz="3600" dirty="0" err="1"/>
              <a:t>Bobathon</a:t>
            </a:r>
            <a:r>
              <a:rPr lang="en-US" sz="3600" dirty="0"/>
              <a:t> w/Premium Package for </a:t>
            </a:r>
            <a:r>
              <a:rPr lang="en-US" sz="3600" dirty="0" err="1"/>
              <a:t>i</a:t>
            </a:r>
            <a:br>
              <a:rPr lang="en-US" sz="3600" dirty="0"/>
            </a:br>
            <a:r>
              <a:rPr lang="en-US" sz="3600" dirty="0"/>
              <a:t>IBM + Honda Logistics 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Sept 24, 2026</a:t>
            </a:r>
            <a:endParaRPr lang="en-US" dirty="0"/>
          </a:p>
        </p:txBody>
      </p:sp>
      <p:sp>
        <p:nvSpPr>
          <p:cNvPr id="4" name="Rectangle 3" descr="Square node over image, Blue 60">
            <a:extLst>
              <a:ext uri="{FF2B5EF4-FFF2-40B4-BE49-F238E27FC236}">
                <a16:creationId xmlns:a16="http://schemas.microsoft.com/office/drawing/2014/main" id="{9C797506-59AE-6D94-2BC1-2063008170B8}"/>
              </a:ext>
            </a:extLst>
          </p:cNvPr>
          <p:cNvSpPr/>
          <p:nvPr/>
        </p:nvSpPr>
        <p:spPr bwMode="auto">
          <a:xfrm>
            <a:off x="23431500" y="569913"/>
            <a:ext cx="381000" cy="382587"/>
          </a:xfrm>
          <a:prstGeom prst="rect">
            <a:avLst/>
          </a:prstGeom>
          <a:solidFill>
            <a:schemeClr val="accent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631699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DC423-AD93-2ADC-258C-419D18114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03D99CD-27E8-B4B4-C216-2000B7BEB0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20"/>
          <a:stretch>
            <a:fillRect/>
          </a:stretch>
        </p:blipFill>
        <p:spPr>
          <a:xfrm>
            <a:off x="0" y="1857968"/>
            <a:ext cx="24387175" cy="10760752"/>
          </a:xfrm>
          <a:prstGeom prst="rect">
            <a:avLst/>
          </a:prstGeom>
        </p:spPr>
      </p:pic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4234A6B2-D897-56D8-5BE0-1EA8F5B345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269DEBF7-E998-F9C8-06F0-5501B88E8C6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 dirty="0" err="1"/>
              <a:t>Bobathon</a:t>
            </a:r>
            <a:r>
              <a:rPr lang="en-US" dirty="0"/>
              <a:t> w/Premium Package for I | Honda Logistics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BA46E-07F3-68E6-D818-6EE9179B5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9"/>
            <a:ext cx="11036491" cy="1123406"/>
          </a:xfrm>
        </p:spPr>
        <p:txBody>
          <a:bodyPr/>
          <a:lstStyle/>
          <a:p>
            <a:r>
              <a:rPr lang="en-US" dirty="0"/>
              <a:t>What will we use Bob for?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842781F-6E0F-B546-A71E-48C84A0E2DC3}"/>
              </a:ext>
            </a:extLst>
          </p:cNvPr>
          <p:cNvSpPr/>
          <p:nvPr/>
        </p:nvSpPr>
        <p:spPr bwMode="auto">
          <a:xfrm>
            <a:off x="5934634" y="2205316"/>
            <a:ext cx="11797553" cy="3030071"/>
          </a:xfrm>
          <a:prstGeom prst="roundRect">
            <a:avLst/>
          </a:prstGeom>
          <a:noFill/>
          <a:ln w="285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9EE056-0DCF-F462-0750-B5FB7FB2ED31}"/>
              </a:ext>
            </a:extLst>
          </p:cNvPr>
          <p:cNvSpPr txBox="1"/>
          <p:nvPr/>
        </p:nvSpPr>
        <p:spPr>
          <a:xfrm>
            <a:off x="9595300" y="1913440"/>
            <a:ext cx="4476219" cy="579597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 anchor="ctr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32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Biggest Opportunities</a:t>
            </a:r>
          </a:p>
        </p:txBody>
      </p:sp>
    </p:spTree>
    <p:extLst>
      <p:ext uri="{BB962C8B-B14F-4D97-AF65-F5344CB8AC3E}">
        <p14:creationId xmlns:p14="http://schemas.microsoft.com/office/powerpoint/2010/main" val="400743831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02F6A-5F13-86FE-51A1-7B14D1A34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C923-D70C-BD8C-4EFB-1057D6E37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801560"/>
            <a:ext cx="11036491" cy="1076097"/>
          </a:xfrm>
        </p:spPr>
        <p:txBody>
          <a:bodyPr/>
          <a:lstStyle/>
          <a:p>
            <a:r>
              <a:rPr lang="en-US" dirty="0"/>
              <a:t>3 Biggest Opportunities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914166BB-93DE-13C6-FAA6-64C1221B8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ED7563CB-FB7C-79A9-237A-290AAC69AC2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 dirty="0" err="1"/>
              <a:t>Bobathon</a:t>
            </a:r>
            <a:r>
              <a:rPr lang="en-US" dirty="0"/>
              <a:t> w/Premium Package for I | Honda Logistics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ADE6D1-DF0B-97BC-D637-EC587ADB0D92}"/>
              </a:ext>
            </a:extLst>
          </p:cNvPr>
          <p:cNvSpPr txBox="1"/>
          <p:nvPr/>
        </p:nvSpPr>
        <p:spPr>
          <a:xfrm>
            <a:off x="3376297" y="2398702"/>
            <a:ext cx="4013201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sz="4400" kern="0" dirty="0">
                <a:solidFill>
                  <a:srgbClr val="000000"/>
                </a:solidFill>
                <a:latin typeface="IBM Plex Sans" panose="020B0503050203000203" pitchFamily="34" charset="0"/>
                <a:ea typeface="+mj-ea"/>
                <a:cs typeface="+mj-cs"/>
                <a:sym typeface="IBM Plex Sans Light"/>
              </a:rPr>
              <a:t>Impact Analysis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88C088-970F-ED64-FAE9-691C0494D627}"/>
              </a:ext>
            </a:extLst>
          </p:cNvPr>
          <p:cNvSpPr txBox="1"/>
          <p:nvPr/>
        </p:nvSpPr>
        <p:spPr>
          <a:xfrm>
            <a:off x="576739" y="4436821"/>
            <a:ext cx="2067760" cy="528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sz="2400" kern="0" dirty="0">
                <a:solidFill>
                  <a:srgbClr val="000000"/>
                </a:solidFill>
                <a:latin typeface="IBM Plex Sans Text" panose="020B0503050203000203" pitchFamily="34" charset="0"/>
                <a:ea typeface="+mj-ea"/>
                <a:cs typeface="+mj-cs"/>
                <a:sym typeface="IBM Plex Sans Light"/>
              </a:rPr>
              <a:t>TIME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725B8D-1CFD-8BE5-2313-3155CC8BEEE7}"/>
              </a:ext>
            </a:extLst>
          </p:cNvPr>
          <p:cNvSpPr txBox="1"/>
          <p:nvPr/>
        </p:nvSpPr>
        <p:spPr>
          <a:xfrm>
            <a:off x="576739" y="7644113"/>
            <a:ext cx="2067760" cy="528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sz="2400" kern="0" dirty="0">
                <a:solidFill>
                  <a:srgbClr val="000000"/>
                </a:solidFill>
                <a:latin typeface="IBM Plex Sans Text" panose="020B0503050203000203" pitchFamily="34" charset="0"/>
                <a:ea typeface="+mj-ea"/>
                <a:cs typeface="+mj-cs"/>
                <a:sym typeface="IBM Plex Sans Light"/>
              </a:rPr>
              <a:t>RESOURCES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4B43C3B7-9436-D6C5-6103-CDC4FBB04CF3}"/>
              </a:ext>
            </a:extLst>
          </p:cNvPr>
          <p:cNvSpPr txBox="1">
            <a:spLocks/>
          </p:cNvSpPr>
          <p:nvPr/>
        </p:nvSpPr>
        <p:spPr>
          <a:xfrm>
            <a:off x="3376297" y="3144880"/>
            <a:ext cx="6686455" cy="749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45720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2400" kern="0" dirty="0"/>
              <a:t>Looking for dependencies and consequences and making changes to tables and programs.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D1CDBF25-49E7-C828-96B7-1A902EE32480}"/>
              </a:ext>
            </a:extLst>
          </p:cNvPr>
          <p:cNvSpPr txBox="1">
            <a:spLocks/>
          </p:cNvSpPr>
          <p:nvPr/>
        </p:nvSpPr>
        <p:spPr>
          <a:xfrm>
            <a:off x="3376297" y="4436821"/>
            <a:ext cx="6197599" cy="2594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45720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3200" kern="0" dirty="0"/>
              <a:t>Analysis takes 3-4 months and testing takes 4-5 months.</a:t>
            </a:r>
            <a:br>
              <a:rPr lang="en-US" sz="3200" kern="0" dirty="0"/>
            </a:br>
            <a:endParaRPr lang="en-US" sz="3200" kern="0" dirty="0"/>
          </a:p>
          <a:p>
            <a:r>
              <a:rPr lang="en-US" sz="3200" kern="0" dirty="0">
                <a:solidFill>
                  <a:schemeClr val="accent1"/>
                </a:solidFill>
                <a:latin typeface="IBM Plex Sans" panose="020B0503050203000203" pitchFamily="34" charset="0"/>
              </a:rPr>
              <a:t>Bob can reduce 8 months of work to 1 month.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91372FB-CC08-CF11-BC8C-8FBD5B6D7ADA}"/>
              </a:ext>
            </a:extLst>
          </p:cNvPr>
          <p:cNvSpPr txBox="1">
            <a:spLocks/>
          </p:cNvSpPr>
          <p:nvPr/>
        </p:nvSpPr>
        <p:spPr>
          <a:xfrm>
            <a:off x="3376297" y="7644113"/>
            <a:ext cx="6197599" cy="2594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45720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3200" kern="0" dirty="0"/>
              <a:t>Devs work on multiple projects at the same time. </a:t>
            </a:r>
          </a:p>
          <a:p>
            <a:br>
              <a:rPr lang="en-US" sz="3200" kern="0" dirty="0"/>
            </a:br>
            <a:r>
              <a:rPr lang="en-US" sz="3200" kern="0" dirty="0"/>
              <a:t>2-3 programmers spend 2-3 weeks on a typical project.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D1F0FA-A6E5-1BCE-B9E0-143D4224521D}"/>
              </a:ext>
            </a:extLst>
          </p:cNvPr>
          <p:cNvSpPr txBox="1"/>
          <p:nvPr/>
        </p:nvSpPr>
        <p:spPr>
          <a:xfrm>
            <a:off x="10321668" y="2398702"/>
            <a:ext cx="4013201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sz="4400" kern="0" dirty="0">
                <a:solidFill>
                  <a:srgbClr val="000000"/>
                </a:solidFill>
                <a:latin typeface="IBM Plex Sans" panose="020B0503050203000203" pitchFamily="34" charset="0"/>
                <a:ea typeface="+mj-ea"/>
                <a:cs typeface="+mj-cs"/>
                <a:sym typeface="IBM Plex Sans Light"/>
              </a:rPr>
              <a:t>Code Review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BAA6DEF-721D-1429-3284-35B5B0A2EBC4}"/>
              </a:ext>
            </a:extLst>
          </p:cNvPr>
          <p:cNvSpPr txBox="1">
            <a:spLocks/>
          </p:cNvSpPr>
          <p:nvPr/>
        </p:nvSpPr>
        <p:spPr>
          <a:xfrm>
            <a:off x="10321668" y="3144880"/>
            <a:ext cx="6686455" cy="749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45720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2400" kern="0" dirty="0"/>
              <a:t>Ensuring high-quality code.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B83B9E8E-515E-39E3-A8BA-72F2C07019A9}"/>
              </a:ext>
            </a:extLst>
          </p:cNvPr>
          <p:cNvSpPr txBox="1">
            <a:spLocks/>
          </p:cNvSpPr>
          <p:nvPr/>
        </p:nvSpPr>
        <p:spPr>
          <a:xfrm>
            <a:off x="10305694" y="4436821"/>
            <a:ext cx="6197599" cy="2594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45720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3200" kern="0" dirty="0"/>
              <a:t>Code review takes 2-3 weeks. It can be a challenge.</a:t>
            </a:r>
            <a:br>
              <a:rPr lang="en-US" sz="3200" kern="0" dirty="0"/>
            </a:br>
            <a:endParaRPr lang="en-US" sz="3200" kern="0" dirty="0"/>
          </a:p>
          <a:p>
            <a:r>
              <a:rPr lang="en-US" sz="3200" kern="0" dirty="0">
                <a:solidFill>
                  <a:schemeClr val="accent1"/>
                </a:solidFill>
                <a:latin typeface="IBM Plex Sans" panose="020B0503050203000203" pitchFamily="34" charset="0"/>
              </a:rPr>
              <a:t>Bob can help with logic, ensuring nothing is missed.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AD8156F6-2177-7B35-C09D-B43C27FED62A}"/>
              </a:ext>
            </a:extLst>
          </p:cNvPr>
          <p:cNvSpPr txBox="1">
            <a:spLocks/>
          </p:cNvSpPr>
          <p:nvPr/>
        </p:nvSpPr>
        <p:spPr>
          <a:xfrm>
            <a:off x="10305694" y="7644113"/>
            <a:ext cx="6197599" cy="2741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45720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3200" kern="0" dirty="0"/>
              <a:t>Within a year, there are 4 major projects, 32-40 minor projects or enhancements, and 400 tickets raised. 3-4 leads are leading projects.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9B66FC-1744-B96B-6719-AC71C26214F9}"/>
              </a:ext>
            </a:extLst>
          </p:cNvPr>
          <p:cNvSpPr txBox="1"/>
          <p:nvPr/>
        </p:nvSpPr>
        <p:spPr>
          <a:xfrm>
            <a:off x="576739" y="11127471"/>
            <a:ext cx="2067760" cy="528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sz="2400" kern="0" dirty="0">
                <a:solidFill>
                  <a:srgbClr val="000000"/>
                </a:solidFill>
                <a:latin typeface="IBM Plex Sans Text" panose="020B0503050203000203" pitchFamily="34" charset="0"/>
                <a:ea typeface="+mj-ea"/>
                <a:cs typeface="+mj-cs"/>
                <a:sym typeface="IBM Plex Sans Light"/>
              </a:rPr>
              <a:t>INCONVENIENCE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AFACFF44-32E2-22B6-51DA-B211335D166A}"/>
              </a:ext>
            </a:extLst>
          </p:cNvPr>
          <p:cNvSpPr txBox="1">
            <a:spLocks/>
          </p:cNvSpPr>
          <p:nvPr/>
        </p:nvSpPr>
        <p:spPr>
          <a:xfrm>
            <a:off x="3376297" y="11127470"/>
            <a:ext cx="6197599" cy="1076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45720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3200" kern="0" dirty="0"/>
              <a:t>Testing takes a long time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301691-8CCF-F403-0502-9B8AA9671070}"/>
              </a:ext>
            </a:extLst>
          </p:cNvPr>
          <p:cNvSpPr txBox="1"/>
          <p:nvPr/>
        </p:nvSpPr>
        <p:spPr>
          <a:xfrm>
            <a:off x="17244982" y="2398702"/>
            <a:ext cx="4013201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sz="4400" kern="0" dirty="0">
                <a:solidFill>
                  <a:srgbClr val="000000"/>
                </a:solidFill>
                <a:latin typeface="IBM Plex Sans" panose="020B0503050203000203" pitchFamily="34" charset="0"/>
                <a:ea typeface="+mj-ea"/>
                <a:cs typeface="+mj-cs"/>
                <a:sym typeface="IBM Plex Sans Light"/>
              </a:rPr>
              <a:t>Regulatory Compliance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087F4747-8845-A049-CD41-C1A41FED8AB7}"/>
              </a:ext>
            </a:extLst>
          </p:cNvPr>
          <p:cNvSpPr txBox="1">
            <a:spLocks/>
          </p:cNvSpPr>
          <p:nvPr/>
        </p:nvSpPr>
        <p:spPr>
          <a:xfrm>
            <a:off x="17244982" y="3144880"/>
            <a:ext cx="6686455" cy="749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45720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2400" kern="0" dirty="0"/>
              <a:t>Assisting with compliance regulations and business requirements.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2C1F6E06-40E2-E2B1-E762-9BF5389CB2AB}"/>
              </a:ext>
            </a:extLst>
          </p:cNvPr>
          <p:cNvSpPr txBox="1">
            <a:spLocks/>
          </p:cNvSpPr>
          <p:nvPr/>
        </p:nvSpPr>
        <p:spPr>
          <a:xfrm>
            <a:off x="17229008" y="4436821"/>
            <a:ext cx="6197599" cy="2594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45720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3200" kern="0" dirty="0"/>
              <a:t>The multi-step process takes weeks + has manual tracking.</a:t>
            </a:r>
          </a:p>
          <a:p>
            <a:endParaRPr lang="en-US" sz="3200" kern="0" dirty="0"/>
          </a:p>
          <a:p>
            <a:r>
              <a:rPr lang="en-US" sz="3200" kern="0" dirty="0">
                <a:solidFill>
                  <a:schemeClr val="accent1"/>
                </a:solidFill>
                <a:latin typeface="IBM Plex Sans" panose="020B0503050203000203" pitchFamily="34" charset="0"/>
              </a:rPr>
              <a:t>Bob can help with technical and design requirements.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0AE0A594-E1D7-1D24-6420-382F3CD7C62B}"/>
              </a:ext>
            </a:extLst>
          </p:cNvPr>
          <p:cNvSpPr txBox="1">
            <a:spLocks/>
          </p:cNvSpPr>
          <p:nvPr/>
        </p:nvSpPr>
        <p:spPr>
          <a:xfrm>
            <a:off x="17229008" y="7644113"/>
            <a:ext cx="6197599" cy="2741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45720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3200" kern="0" dirty="0"/>
              <a:t>Devs work on multiple projects at the same time, spending ~3 weeks per project.</a:t>
            </a:r>
          </a:p>
          <a:p>
            <a:r>
              <a:rPr lang="en-US" sz="3200" kern="0" dirty="0"/>
              <a:t>Projects are currently tracked in excel + Microsoft projects.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F02646FE-884A-9DD8-4932-D01098DC9DD5}"/>
              </a:ext>
            </a:extLst>
          </p:cNvPr>
          <p:cNvSpPr txBox="1">
            <a:spLocks/>
          </p:cNvSpPr>
          <p:nvPr/>
        </p:nvSpPr>
        <p:spPr>
          <a:xfrm>
            <a:off x="10299612" y="11127470"/>
            <a:ext cx="6197599" cy="1076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45720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3200" kern="0" dirty="0"/>
              <a:t>Balancing time for major projects is a challenge.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B0A8F2C5-EA42-36E9-370E-1BFD5A085452}"/>
              </a:ext>
            </a:extLst>
          </p:cNvPr>
          <p:cNvSpPr txBox="1">
            <a:spLocks/>
          </p:cNvSpPr>
          <p:nvPr/>
        </p:nvSpPr>
        <p:spPr>
          <a:xfrm>
            <a:off x="17222926" y="11127470"/>
            <a:ext cx="6197599" cy="1076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45720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3200" kern="0" dirty="0"/>
              <a:t>Creating documentation requires a lot of different sources and information.</a:t>
            </a:r>
          </a:p>
        </p:txBody>
      </p:sp>
    </p:spTree>
    <p:extLst>
      <p:ext uri="{BB962C8B-B14F-4D97-AF65-F5344CB8AC3E}">
        <p14:creationId xmlns:p14="http://schemas.microsoft.com/office/powerpoint/2010/main" val="324691473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31DF0289-1028-6943-A020-36845773A867}" vid="{420903E5-FF27-9C4D-AB14-78ABBED49DF3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694EF421EE7B4987B547F22F2A1DA3" ma:contentTypeVersion="8" ma:contentTypeDescription="Create a new document." ma:contentTypeScope="" ma:versionID="e3fd817475d01017a64616e760ff69ca">
  <xsd:schema xmlns:xsd="http://www.w3.org/2001/XMLSchema" xmlns:xs="http://www.w3.org/2001/XMLSchema" xmlns:p="http://schemas.microsoft.com/office/2006/metadata/properties" xmlns:ns2="583b3768-e370-44a4-8037-087c689a0545" targetNamespace="http://schemas.microsoft.com/office/2006/metadata/properties" ma:root="true" ma:fieldsID="30fb6e060836472f64f635eae5cc7aed" ns2:_="">
    <xsd:import namespace="583b3768-e370-44a4-8037-087c689a0545"/>
    <xsd:element name="properties">
      <xsd:complexType>
        <xsd:sequence>
          <xsd:element name="documentManagement">
            <xsd:complexType>
              <xsd:all>
                <xsd:element ref="ns2:Completefilename" minOccurs="0"/>
                <xsd:element ref="ns2:BoxLink" minOccurs="0"/>
                <xsd:element ref="ns2:Box_x003a_02_PublishedAssets" minOccurs="0"/>
                <xsd:element ref="ns2:Order0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Thumbnai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3b3768-e370-44a4-8037-087c689a0545" elementFormDefault="qualified">
    <xsd:import namespace="http://schemas.microsoft.com/office/2006/documentManagement/types"/>
    <xsd:import namespace="http://schemas.microsoft.com/office/infopath/2007/PartnerControls"/>
    <xsd:element name="Completefilename" ma:index="8" nillable="true" ma:displayName="Complete file name" ma:description="file name of Box counterpart" ma:format="Dropdown" ma:internalName="Completefilename">
      <xsd:simpleType>
        <xsd:restriction base="dms:Text">
          <xsd:maxLength value="255"/>
        </xsd:restriction>
      </xsd:simpleType>
    </xsd:element>
    <xsd:element name="BoxLink" ma:index="9" nillable="true" ma:displayName="Box: 01_Projects" ma:description="Link to Box counterpart for production updates" ma:format="Hyperlink" ma:internalName="Box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Box_x003a_02_PublishedAssets" ma:index="10" nillable="true" ma:displayName="Box: 02_PubAssets" ma:description="Link to files counterpart in published assets folder in Box" ma:format="Hyperlink" ma:internalName="Box_x003a_02_PublishedAsset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Order0" ma:index="11" nillable="true" ma:displayName="Sort order" ma:description="Sequence and order files should appear on template library view" ma:format="Dropdown" ma:internalName="Order0" ma:percentage="FALSE">
      <xsd:simpleType>
        <xsd:restriction base="dms:Number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humbnail" ma:index="15" nillable="true" ma:displayName="Thumbnail" ma:format="Thumbnail" ma:internalName="Thumbnail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x_x003a_02_PublishedAssets xmlns="583b3768-e370-44a4-8037-087c689a0545">
      <Url>https://ibm.box.com/s/zojjyxami5ot987ficfrh8iugmwo23b4</Url>
      <Description>Plex Embed v2.0</Description>
    </Box_x003a_02_PublishedAssets>
    <Completefilename xmlns="583b3768-e370-44a4-8037-087c689a0545">IBM_presentation_template_v_2_0_Plex_embed</Completefilename>
    <BoxLink xmlns="583b3768-e370-44a4-8037-087c689a0545">
      <Url>https://ibm.box.com/s/2kogrzdi4aedyxfhp9i870tyz9derbwg</Url>
      <Description>Plex Embed v2.0 Backup</Description>
    </BoxLink>
    <Order0 xmlns="583b3768-e370-44a4-8037-087c689a0545">1</Order0>
    <Thumbnail xmlns="583b3768-e370-44a4-8037-087c689a0545" xsi:nil="true"/>
  </documentManagement>
</p:properties>
</file>

<file path=customXml/itemProps1.xml><?xml version="1.0" encoding="utf-8"?>
<ds:datastoreItem xmlns:ds="http://schemas.openxmlformats.org/officeDocument/2006/customXml" ds:itemID="{C7466BDD-CE65-46C2-BF13-E8D466B07A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3b3768-e370-44a4-8037-087c689a05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1251C0-D336-4ADE-9149-489DC5DF06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798F27-E6E4-4ACB-B27D-44B603BA1245}">
  <ds:schemaRefs>
    <ds:schemaRef ds:uri="http://schemas.microsoft.com/office/2006/metadata/properties"/>
    <ds:schemaRef ds:uri="http://schemas.microsoft.com/office/infopath/2007/PartnerControls"/>
    <ds:schemaRef ds:uri="583b3768-e370-44a4-8037-087c689a054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67</TotalTime>
  <Words>291</Words>
  <Application>Microsoft Macintosh PowerPoint</Application>
  <PresentationFormat>Custom</PresentationFormat>
  <Paragraphs>42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IBM Plex Sans</vt:lpstr>
      <vt:lpstr>IBM Plex Sans Light</vt:lpstr>
      <vt:lpstr>IBM Plex Sans Text</vt:lpstr>
      <vt:lpstr>IBM Plex Sans ExtLt</vt:lpstr>
      <vt:lpstr>IBM presentation template</vt:lpstr>
      <vt:lpstr>Use Case Discovery  A part of Bobathon w/Premium Package for i IBM + Honda Logistics   Sept 24, 2026</vt:lpstr>
      <vt:lpstr>What will we use Bob for?</vt:lpstr>
      <vt:lpstr>3 Biggest Opportunities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Bansini Doshi</dc:creator>
  <cp:keywords/>
  <dc:description/>
  <cp:lastModifiedBy>Bansini Doshi</cp:lastModifiedBy>
  <cp:revision>1</cp:revision>
  <cp:lastPrinted>2019-04-25T15:14:05Z</cp:lastPrinted>
  <dcterms:created xsi:type="dcterms:W3CDTF">2026-09-28T16:55:50Z</dcterms:created>
  <dcterms:modified xsi:type="dcterms:W3CDTF">2026-09-28T18:03:34Z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0x01010031694EF421EE7B4987B547F22F2A1DA3</vt:lpwstr>
  </property>
</Properties>
</file>